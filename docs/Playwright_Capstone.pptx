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59" r:id="rId5"/>
    <p:sldId id="260" r:id="rId6"/>
    <p:sldId id="263" r:id="rId7"/>
    <p:sldId id="267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10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goal: a scalable, maintainable Playwright framework that protects the client's revenue-critical journeys. Mention it takes about 8-10 minutes with a short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flows were chosen because they are revenue-critical: a customer who cannot register, search, add to cart, check out or contact support is a lost sale. Accessibility, visual and network resilience are layered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Tests read like business steps. Fixtures own setup and teardown. Page objects hold all locators. The folder layout matches the expected structure from the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locator tells Playwright which element we mean. The app provides data-qa attributes, so getByTestId is configured to use them. Role-based locators come next because they match what users and assistive tech perceive.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guess the waiting time. Playwright auto-waits and web-first assertions keep retrying. Ads were the main source of flakiness, so an auto fixture blocks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Accessibility: first run found icon-only buttons with no accessible name and an unlabeled file input; they are recorded in a baseline so only new violations fail. Visual: full-viewport shots of static pages are stable. Cross-browser: one config, three engines, CI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5B8D-BD24-39DC-1206-144BEEF7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51C9D-0E91-061F-001B-E4BA74ECB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0769B-566B-6A31-F8FE-FB4F0DA7F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suite, open the HTML report, then open a trace to show DOM snapshots, network calls and console logs at the point of failure. Finish with UI mode to show time-travel debugging.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6A6FE-3D4E-E994-CFAF-148BB5EA0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46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fixtures over beforeEach, how to handle flaky tests, how to scale to 500 tests, when mocking is appropriate. Answers are in docs/PRESENTATION.md.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4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E-Commerce Automation Framework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Playwright + TypeScript capstone  |  automationexercise.com</a:t>
            </a:r>
            <a:endParaRPr lang="en-US" sz="1800" dirty="0"/>
          </a:p>
        </p:txBody>
      </p:sp>
      <p:sp>
        <p:nvSpPr>
          <p:cNvPr id="4" name="badge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and why</a:t>
            </a:r>
            <a:endParaRPr lang="en-US" sz="3200" dirty="0"/>
          </a:p>
        </p:txBody>
      </p:sp>
      <p:sp>
        <p:nvSpPr>
          <p:cNvPr id="4" name="row0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ot1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943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34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Register, login and logout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customer creates an account, signs in and signs out. Without this, nobody can buy.</a:t>
            </a:r>
            <a:endParaRPr lang="en-US" sz="1400" dirty="0"/>
          </a:p>
        </p:txBody>
      </p:sp>
      <p:sp>
        <p:nvSpPr>
          <p:cNvPr id="8" name="row1"/>
          <p:cNvSpPr/>
          <p:nvPr/>
        </p:nvSpPr>
        <p:spPr>
          <a:xfrm>
            <a:off x="457200" y="18745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ot2"/>
          <p:cNvSpPr/>
          <p:nvPr/>
        </p:nvSpPr>
        <p:spPr>
          <a:xfrm>
            <a:off x="594360" y="1984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43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9202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 search, add and remove from cart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customer finds a product and puts it in the basket or takes it out again.</a:t>
            </a:r>
            <a:endParaRPr lang="en-US" sz="1400" dirty="0"/>
          </a:p>
        </p:txBody>
      </p:sp>
      <p:sp>
        <p:nvSpPr>
          <p:cNvPr id="12" name="row2"/>
          <p:cNvSpPr/>
          <p:nvPr/>
        </p:nvSpPr>
        <p:spPr>
          <a:xfrm>
            <a:off x="457200" y="25603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ot3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6060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Checkout and order placement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customer pays and gets an order confirmation. This is where the shop earns money.</a:t>
            </a:r>
            <a:endParaRPr lang="en-US" sz="1400" dirty="0"/>
          </a:p>
        </p:txBody>
      </p:sp>
      <p:sp>
        <p:nvSpPr>
          <p:cNvPr id="16" name="row3"/>
          <p:cNvSpPr/>
          <p:nvPr/>
        </p:nvSpPr>
        <p:spPr>
          <a:xfrm>
            <a:off x="457200" y="32461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ot4"/>
          <p:cNvSpPr/>
          <p:nvPr/>
        </p:nvSpPr>
        <p:spPr>
          <a:xfrm>
            <a:off x="594360" y="3355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94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2918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Contact Us form validation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customer sends a message. We check the form accepts good data and rejects bad data.</a:t>
            </a:r>
            <a:endParaRPr lang="en-US" sz="1400" dirty="0"/>
          </a:p>
        </p:txBody>
      </p:sp>
      <p:sp>
        <p:nvSpPr>
          <p:cNvPr id="20" name="row4"/>
          <p:cNvSpPr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5"/>
          <p:cNvSpPr/>
          <p:nvPr/>
        </p:nvSpPr>
        <p:spPr>
          <a:xfrm>
            <a:off x="594360" y="4041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9436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Network mocking, accessibility, visual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 checks: fake server answers, use by disabled people, and how the pages look.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architecture</a:t>
            </a:r>
            <a:endParaRPr lang="en-US" sz="3200" dirty="0"/>
          </a:p>
        </p:txBody>
      </p:sp>
      <p:sp>
        <p:nvSpPr>
          <p:cNvPr id="3" name="arch-box-0"/>
          <p:cNvSpPr/>
          <p:nvPr/>
        </p:nvSpPr>
        <p:spPr>
          <a:xfrm>
            <a:off x="457200" y="132588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Steps like “login, add to cart, pay”. No technical details.</a:t>
            </a:r>
          </a:p>
        </p:txBody>
      </p:sp>
      <p:sp>
        <p:nvSpPr>
          <p:cNvPr id="6" name="arrow-0"/>
          <p:cNvSpPr/>
          <p:nvPr/>
        </p:nvSpPr>
        <p:spPr>
          <a:xfrm>
            <a:off x="2286000" y="2075688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ch-box-1"/>
          <p:cNvSpPr/>
          <p:nvPr/>
        </p:nvSpPr>
        <p:spPr>
          <a:xfrm>
            <a:off x="2606040" y="132588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4320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202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Prepares things before a test and cleans up after.</a:t>
            </a:r>
          </a:p>
        </p:txBody>
      </p:sp>
      <p:sp>
        <p:nvSpPr>
          <p:cNvPr id="10" name="arrow-1"/>
          <p:cNvSpPr/>
          <p:nvPr/>
        </p:nvSpPr>
        <p:spPr>
          <a:xfrm>
            <a:off x="4434840" y="2075688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rch-box-2"/>
          <p:cNvSpPr/>
          <p:nvPr/>
        </p:nvSpPr>
        <p:spPr>
          <a:xfrm>
            <a:off x="4754880" y="132588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202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Stores where each button and box is on each web page.</a:t>
            </a:r>
          </a:p>
        </p:txBody>
      </p:sp>
      <p:sp>
        <p:nvSpPr>
          <p:cNvPr id="14" name="arrow-2"/>
          <p:cNvSpPr/>
          <p:nvPr/>
        </p:nvSpPr>
        <p:spPr>
          <a:xfrm>
            <a:off x="6583680" y="2075688"/>
            <a:ext cx="274320" cy="25603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rch-box-3"/>
          <p:cNvSpPr/>
          <p:nvPr/>
        </p:nvSpPr>
        <p:spPr>
          <a:xfrm>
            <a:off x="6903720" y="1325880"/>
            <a:ext cx="1783080" cy="1737360"/>
          </a:xfrm>
          <a:prstGeom prst="roundRect">
            <a:avLst>
              <a:gd name="adj" fmla="val 42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40880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9202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bg1"/>
                </a:solidFill>
              </a:rPr>
              <a:t>utils</a:t>
            </a:r>
            <a:r>
              <a:rPr lang="en-US" sz="1400" dirty="0">
                <a:solidFill>
                  <a:schemeClr val="bg1"/>
                </a:solidFill>
              </a:rPr>
              <a:t> (helper tools), </a:t>
            </a:r>
            <a:r>
              <a:rPr lang="en-US" dirty="0" err="1">
                <a:solidFill>
                  <a:schemeClr val="bg1"/>
                </a:solidFill>
              </a:rPr>
              <a:t>testdata</a:t>
            </a:r>
            <a:r>
              <a:rPr lang="en-US" sz="1400" dirty="0">
                <a:solidFill>
                  <a:schemeClr val="bg1"/>
                </a:solidFill>
              </a:rPr>
              <a:t> (inputs), </a:t>
            </a:r>
            <a:r>
              <a:rPr lang="en-US" dirty="0">
                <a:solidFill>
                  <a:schemeClr val="bg1"/>
                </a:solidFill>
              </a:rPr>
              <a:t>config</a:t>
            </a:r>
            <a:r>
              <a:rPr lang="en-US" sz="1400" dirty="0">
                <a:solidFill>
                  <a:schemeClr val="bg1"/>
                </a:solidFill>
              </a:rPr>
              <a:t> (settings).</a:t>
            </a:r>
          </a:p>
        </p:txBody>
      </p:sp>
      <p:sp>
        <p:nvSpPr>
          <p:cNvPr id="18" name="folder-strip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   fixtures/   tests/   utils/   testdata/   config/   reports/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A UI change touches one page object, not every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Locators: how to find a button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A locator tells Playwright which element on the page we mean. We try the most stable option first.</a:t>
            </a:r>
            <a:endParaRPr lang="en-US" sz="1500" dirty="0"/>
          </a:p>
        </p:txBody>
      </p:sp>
      <p:sp>
        <p:nvSpPr>
          <p:cNvPr id="5" name="lrow0"/>
          <p:cNvSpPr/>
          <p:nvPr/>
        </p:nvSpPr>
        <p:spPr>
          <a:xfrm>
            <a:off x="457200" y="1554480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ot1"/>
          <p:cNvSpPr/>
          <p:nvPr/>
        </p:nvSpPr>
        <p:spPr>
          <a:xfrm>
            <a:off x="594360" y="1709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591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getByTestId (data-qa)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site gives elements a hidden ID label. It rarely changes, so it is the most stable.</a:t>
            </a:r>
            <a:endParaRPr lang="en-US" sz="1400" dirty="0"/>
          </a:p>
        </p:txBody>
      </p:sp>
      <p:sp>
        <p:nvSpPr>
          <p:cNvPr id="9" name="code-pill"/>
          <p:cNvSpPr/>
          <p:nvPr/>
        </p:nvSpPr>
        <p:spPr>
          <a:xfrm>
            <a:off x="5532120" y="1691640"/>
            <a:ext cx="3017520" cy="420624"/>
          </a:xfrm>
          <a:prstGeom prst="roundRect">
            <a:avLst>
              <a:gd name="adj" fmla="val 130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641848" y="1691640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getByTestId('login-email')</a:t>
            </a:r>
            <a:endParaRPr lang="en-US" sz="1100" dirty="0"/>
          </a:p>
        </p:txBody>
      </p:sp>
      <p:sp>
        <p:nvSpPr>
          <p:cNvPr id="11" name="lrow1"/>
          <p:cNvSpPr/>
          <p:nvPr/>
        </p:nvSpPr>
        <p:spPr>
          <a:xfrm>
            <a:off x="457200" y="2322576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ot2"/>
          <p:cNvSpPr/>
          <p:nvPr/>
        </p:nvSpPr>
        <p:spPr>
          <a:xfrm>
            <a:off x="594360" y="24780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591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getByRole + 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Finds an element by what it is and its name, the way a real user sees it.</a:t>
            </a:r>
            <a:endParaRPr lang="en-US" sz="1400" dirty="0"/>
          </a:p>
        </p:txBody>
      </p:sp>
      <p:sp>
        <p:nvSpPr>
          <p:cNvPr id="15" name="code-pill"/>
          <p:cNvSpPr/>
          <p:nvPr/>
        </p:nvSpPr>
        <p:spPr>
          <a:xfrm>
            <a:off x="5532120" y="2459736"/>
            <a:ext cx="3017520" cy="420624"/>
          </a:xfrm>
          <a:prstGeom prst="roundRect">
            <a:avLst>
              <a:gd name="adj" fmla="val 130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641848" y="2459736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getByRole('button', {name: 'Login'})</a:t>
            </a:r>
            <a:endParaRPr lang="en-US" sz="1100" dirty="0"/>
          </a:p>
        </p:txBody>
      </p:sp>
      <p:sp>
        <p:nvSpPr>
          <p:cNvPr id="17" name="lrow2"/>
          <p:cNvSpPr/>
          <p:nvPr/>
        </p:nvSpPr>
        <p:spPr>
          <a:xfrm>
            <a:off x="457200" y="3090672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ot3"/>
          <p:cNvSpPr/>
          <p:nvPr/>
        </p:nvSpPr>
        <p:spPr>
          <a:xfrm>
            <a:off x="594360" y="3246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943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1272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getByText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Finds an element by the words shown on screen, like an error message.</a:t>
            </a:r>
            <a:endParaRPr lang="en-US" sz="1400" dirty="0"/>
          </a:p>
        </p:txBody>
      </p:sp>
      <p:sp>
        <p:nvSpPr>
          <p:cNvPr id="21" name="code-pill"/>
          <p:cNvSpPr/>
          <p:nvPr/>
        </p:nvSpPr>
        <p:spPr>
          <a:xfrm>
            <a:off x="5532120" y="3227832"/>
            <a:ext cx="3017520" cy="420624"/>
          </a:xfrm>
          <a:prstGeom prst="roundRect">
            <a:avLst>
              <a:gd name="adj" fmla="val 130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641848" y="3227832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getByText('Login to your account')</a:t>
            </a:r>
            <a:endParaRPr lang="en-US" sz="1100" dirty="0"/>
          </a:p>
        </p:txBody>
      </p:sp>
      <p:sp>
        <p:nvSpPr>
          <p:cNvPr id="23" name="lrow3"/>
          <p:cNvSpPr/>
          <p:nvPr/>
        </p:nvSpPr>
        <p:spPr>
          <a:xfrm>
            <a:off x="457200" y="3858768"/>
            <a:ext cx="82296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dot4"/>
          <p:cNvSpPr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943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895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CSS / ID, last resort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Used only when nothing better exists. It can break if the design changes.</a:t>
            </a:r>
            <a:endParaRPr lang="en-US" sz="1400" dirty="0"/>
          </a:p>
        </p:txBody>
      </p:sp>
      <p:sp>
        <p:nvSpPr>
          <p:cNvPr id="27" name="code-pill"/>
          <p:cNvSpPr/>
          <p:nvPr/>
        </p:nvSpPr>
        <p:spPr>
          <a:xfrm>
            <a:off x="5532120" y="3995928"/>
            <a:ext cx="3017520" cy="420624"/>
          </a:xfrm>
          <a:prstGeom prst="roundRect">
            <a:avLst>
              <a:gd name="adj" fmla="val 1304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641848" y="3995928"/>
            <a:ext cx="2798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locator('#search_product')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Waiting: let Playwright be patient</a:t>
            </a:r>
            <a:endParaRPr lang="en-US" sz="3200" dirty="0"/>
          </a:p>
        </p:txBody>
      </p:sp>
      <p:sp>
        <p:nvSpPr>
          <p:cNvPr id="4" name="bad"/>
          <p:cNvSpPr/>
          <p:nvPr/>
        </p:nvSpPr>
        <p:spPr>
          <a:xfrm>
            <a:off x="457200" y="1188720"/>
            <a:ext cx="3291840" cy="33832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Bad: guess the time</a:t>
            </a:r>
            <a:endParaRPr lang="en-US" sz="1800" dirty="0"/>
          </a:p>
        </p:txBody>
      </p:sp>
      <p:sp>
        <p:nvSpPr>
          <p:cNvPr id="6" name="code-pill"/>
          <p:cNvSpPr/>
          <p:nvPr/>
        </p:nvSpPr>
        <p:spPr>
          <a:xfrm>
            <a:off x="640080" y="1783080"/>
            <a:ext cx="292608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49808" y="17830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waitForTimeout(5000)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This means “wait 5 seconds and hope”. If the page is fast, we waste time. If it is slow, the test fails. A test that sometimes passes and sometimes fails is called flaky.</a:t>
            </a:r>
            <a:endParaRPr lang="en-US" sz="1400" dirty="0"/>
          </a:p>
        </p:txBody>
      </p:sp>
      <p:sp>
        <p:nvSpPr>
          <p:cNvPr id="9" name="good"/>
          <p:cNvSpPr/>
          <p:nvPr/>
        </p:nvSpPr>
        <p:spPr>
          <a:xfrm>
            <a:off x="4023360" y="1188720"/>
            <a:ext cx="46634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206240" y="1280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Good: smart waiting (we use zero fixed waits)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1783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Auto-wait: </a:t>
            </a:r>
            <a:r>
              <a:rPr lang="en-US" sz="1400" dirty="0">
                <a:solidFill>
                  <a:schemeClr val="tx1"/>
                </a:solidFill>
              </a:rPr>
              <a:t>Playwright waits until a button is ready before it clicks.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2331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Retrying checks: </a:t>
            </a:r>
            <a:r>
              <a:rPr lang="en-US" sz="1400" dirty="0">
                <a:solidFill>
                  <a:schemeClr val="tx1"/>
                </a:solidFill>
              </a:rPr>
              <a:t>expect(...) keeps checking until true, up to 10 seconds.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2956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Ads blocked: </a:t>
            </a:r>
            <a:r>
              <a:rPr lang="en-US" sz="1400" dirty="0">
                <a:solidFill>
                  <a:schemeClr val="tx1"/>
                </a:solidFill>
              </a:rPr>
              <a:t>Google ads cover buttons, so we cancel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</a:t>
            </a:r>
            <a:endParaRPr lang="en-US" sz="3200" dirty="0"/>
          </a:p>
        </p:txBody>
      </p:sp>
      <p:sp>
        <p:nvSpPr>
          <p:cNvPr id="12" name="col2"/>
          <p:cNvSpPr/>
          <p:nvPr/>
        </p:nvSpPr>
        <p:spPr>
          <a:xfrm>
            <a:off x="914400" y="1303020"/>
            <a:ext cx="7551420" cy="26289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1702308" y="17145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702308" y="2217420"/>
            <a:ext cx="584911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Which browsers:</a:t>
            </a:r>
            <a:r>
              <a:rPr lang="en-US" sz="1400" dirty="0"/>
              <a:t> Chromium (Chrome and Edge), Firefox, and WebKit (Safari)</a:t>
            </a:r>
          </a:p>
          <a:p>
            <a:r>
              <a:rPr lang="en-US" sz="1400" b="1" dirty="0"/>
              <a:t>How:</a:t>
            </a:r>
            <a:r>
              <a:rPr lang="en-US" sz="1400" dirty="0"/>
              <a:t> One setting in </a:t>
            </a:r>
            <a:r>
              <a:rPr lang="en-US" dirty="0" err="1"/>
              <a:t>playwright.config.ts</a:t>
            </a:r>
            <a:r>
              <a:rPr lang="en-US" sz="1400" dirty="0"/>
              <a:t> lists the three browsers. The test code does not change.</a:t>
            </a:r>
          </a:p>
          <a:p>
            <a:r>
              <a:rPr lang="en-US" sz="1400" b="1" dirty="0"/>
              <a:t>Run:</a:t>
            </a:r>
            <a:r>
              <a:rPr lang="en-US" sz="1400" dirty="0"/>
              <a:t> </a:t>
            </a:r>
            <a:r>
              <a:rPr lang="en-US" dirty="0" err="1"/>
              <a:t>npm</a:t>
            </a:r>
            <a:r>
              <a:rPr lang="en-US" dirty="0"/>
              <a:t> run </a:t>
            </a:r>
            <a:r>
              <a:rPr lang="en-US" dirty="0" err="1"/>
              <a:t>test:firefox</a:t>
            </a:r>
            <a:r>
              <a:rPr lang="en-US" sz="1400" dirty="0"/>
              <a:t> for one browser, or </a:t>
            </a:r>
            <a:r>
              <a:rPr lang="en-US" dirty="0" err="1"/>
              <a:t>npm</a:t>
            </a:r>
            <a:r>
              <a:rPr lang="en-US" dirty="0"/>
              <a:t> test</a:t>
            </a:r>
            <a:r>
              <a:rPr lang="en-US" sz="1400" dirty="0"/>
              <a:t> for all three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AED2-A499-F1C6-9374-3BCC9805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C67A4F-EF7F-D53E-E0E1-7216158FC57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3200" dirty="0"/>
          </a:p>
        </p:txBody>
      </p:sp>
      <p:sp>
        <p:nvSpPr>
          <p:cNvPr id="4" name="demo0">
            <a:extLst>
              <a:ext uri="{FF2B5EF4-FFF2-40B4-BE49-F238E27FC236}">
                <a16:creationId xmlns:a16="http://schemas.microsoft.com/office/drawing/2014/main" id="{BC8AE993-ACC4-D1F4-7B80-E00942CAEBE1}"/>
              </a:ext>
            </a:extLst>
          </p:cNvPr>
          <p:cNvSpPr/>
          <p:nvPr/>
        </p:nvSpPr>
        <p:spPr>
          <a:xfrm>
            <a:off x="457200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ot1">
            <a:extLst>
              <a:ext uri="{FF2B5EF4-FFF2-40B4-BE49-F238E27FC236}">
                <a16:creationId xmlns:a16="http://schemas.microsoft.com/office/drawing/2014/main" id="{DA48292F-54F1-6121-6D78-FBFA40AA8645}"/>
              </a:ext>
            </a:extLst>
          </p:cNvPr>
          <p:cNvSpPr/>
          <p:nvPr/>
        </p:nvSpPr>
        <p:spPr>
          <a:xfrm>
            <a:off x="640080" y="1325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A56EB4-1F71-C5CD-429C-0AF26E9A3454}"/>
              </a:ext>
            </a:extLst>
          </p:cNvPr>
          <p:cNvSpPr txBox="1"/>
          <p:nvPr/>
        </p:nvSpPr>
        <p:spPr>
          <a:xfrm>
            <a:off x="64008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DB7C88-5D11-75DE-EDE1-D087F8312D58}"/>
              </a:ext>
            </a:extLst>
          </p:cNvPr>
          <p:cNvSpPr txBox="1"/>
          <p:nvPr/>
        </p:nvSpPr>
        <p:spPr>
          <a:xfrm>
            <a:off x="64008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B07C88-5BC8-019B-8D69-7FB5C8CC1F4B}"/>
              </a:ext>
            </a:extLst>
          </p:cNvPr>
          <p:cNvSpPr txBox="1"/>
          <p:nvPr/>
        </p:nvSpPr>
        <p:spPr>
          <a:xfrm>
            <a:off x="640080" y="23317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Runs all tests in Chrome and shows pass or fail.</a:t>
            </a:r>
            <a:endParaRPr lang="en-US" sz="1400" dirty="0"/>
          </a:p>
        </p:txBody>
      </p:sp>
      <p:sp>
        <p:nvSpPr>
          <p:cNvPr id="9" name="code-pill">
            <a:extLst>
              <a:ext uri="{FF2B5EF4-FFF2-40B4-BE49-F238E27FC236}">
                <a16:creationId xmlns:a16="http://schemas.microsoft.com/office/drawing/2014/main" id="{D7D6CAB9-D10E-40EC-35EE-4C2B5CBE1C3B}"/>
              </a:ext>
            </a:extLst>
          </p:cNvPr>
          <p:cNvSpPr/>
          <p:nvPr/>
        </p:nvSpPr>
        <p:spPr>
          <a:xfrm>
            <a:off x="594360" y="38404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62165E1-F77E-A0DB-F413-8808B705B188}"/>
              </a:ext>
            </a:extLst>
          </p:cNvPr>
          <p:cNvSpPr txBox="1"/>
          <p:nvPr/>
        </p:nvSpPr>
        <p:spPr>
          <a:xfrm>
            <a:off x="704088" y="38404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test:chromium</a:t>
            </a:r>
            <a:endParaRPr lang="en-US" sz="1100" dirty="0"/>
          </a:p>
        </p:txBody>
      </p:sp>
      <p:sp>
        <p:nvSpPr>
          <p:cNvPr id="11" name="demo1">
            <a:extLst>
              <a:ext uri="{FF2B5EF4-FFF2-40B4-BE49-F238E27FC236}">
                <a16:creationId xmlns:a16="http://schemas.microsoft.com/office/drawing/2014/main" id="{C6785240-D383-C987-BAF7-7B5940B45857}"/>
              </a:ext>
            </a:extLst>
          </p:cNvPr>
          <p:cNvSpPr/>
          <p:nvPr/>
        </p:nvSpPr>
        <p:spPr>
          <a:xfrm>
            <a:off x="2587752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ot2">
            <a:extLst>
              <a:ext uri="{FF2B5EF4-FFF2-40B4-BE49-F238E27FC236}">
                <a16:creationId xmlns:a16="http://schemas.microsoft.com/office/drawing/2014/main" id="{40817B36-4912-D043-411C-5AE1F8F1F88D}"/>
              </a:ext>
            </a:extLst>
          </p:cNvPr>
          <p:cNvSpPr/>
          <p:nvPr/>
        </p:nvSpPr>
        <p:spPr>
          <a:xfrm>
            <a:off x="2770632" y="1325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2F9E1A2-889E-07B0-CF0E-3E41A4565324}"/>
              </a:ext>
            </a:extLst>
          </p:cNvPr>
          <p:cNvSpPr txBox="1"/>
          <p:nvPr/>
        </p:nvSpPr>
        <p:spPr>
          <a:xfrm>
            <a:off x="2770632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DF436FD-12D4-2966-DF55-03DAA757BCAB}"/>
              </a:ext>
            </a:extLst>
          </p:cNvPr>
          <p:cNvSpPr txBox="1"/>
          <p:nvPr/>
        </p:nvSpPr>
        <p:spPr>
          <a:xfrm>
            <a:off x="2770632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2AF1C5C-9AB6-DAE8-0173-72B26AA244A7}"/>
              </a:ext>
            </a:extLst>
          </p:cNvPr>
          <p:cNvSpPr txBox="1"/>
          <p:nvPr/>
        </p:nvSpPr>
        <p:spPr>
          <a:xfrm>
            <a:off x="2770632" y="23317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Opens a web page with results, screenshots and videos.</a:t>
            </a:r>
            <a:endParaRPr lang="en-US" sz="1400" dirty="0"/>
          </a:p>
        </p:txBody>
      </p:sp>
      <p:sp>
        <p:nvSpPr>
          <p:cNvPr id="16" name="code-pill">
            <a:extLst>
              <a:ext uri="{FF2B5EF4-FFF2-40B4-BE49-F238E27FC236}">
                <a16:creationId xmlns:a16="http://schemas.microsoft.com/office/drawing/2014/main" id="{5C293A15-15B9-7C18-15C6-B55A5038766E}"/>
              </a:ext>
            </a:extLst>
          </p:cNvPr>
          <p:cNvSpPr/>
          <p:nvPr/>
        </p:nvSpPr>
        <p:spPr>
          <a:xfrm>
            <a:off x="2724912" y="38404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D95D18E-ED92-EABA-8976-9BDD4B66F6D8}"/>
              </a:ext>
            </a:extLst>
          </p:cNvPr>
          <p:cNvSpPr txBox="1"/>
          <p:nvPr/>
        </p:nvSpPr>
        <p:spPr>
          <a:xfrm>
            <a:off x="2834640" y="38404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report</a:t>
            </a:r>
            <a:endParaRPr lang="en-US" sz="1100" dirty="0"/>
          </a:p>
        </p:txBody>
      </p:sp>
      <p:sp>
        <p:nvSpPr>
          <p:cNvPr id="25" name="demo3">
            <a:extLst>
              <a:ext uri="{FF2B5EF4-FFF2-40B4-BE49-F238E27FC236}">
                <a16:creationId xmlns:a16="http://schemas.microsoft.com/office/drawing/2014/main" id="{F4D86855-74D0-7A38-A0CD-926404179AC9}"/>
              </a:ext>
            </a:extLst>
          </p:cNvPr>
          <p:cNvSpPr/>
          <p:nvPr/>
        </p:nvSpPr>
        <p:spPr>
          <a:xfrm>
            <a:off x="4718304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dot4">
            <a:extLst>
              <a:ext uri="{FF2B5EF4-FFF2-40B4-BE49-F238E27FC236}">
                <a16:creationId xmlns:a16="http://schemas.microsoft.com/office/drawing/2014/main" id="{DDE93909-236E-C5AA-EF14-2EF9B61E6E8D}"/>
              </a:ext>
            </a:extLst>
          </p:cNvPr>
          <p:cNvSpPr/>
          <p:nvPr/>
        </p:nvSpPr>
        <p:spPr>
          <a:xfrm>
            <a:off x="4901184" y="1325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25EBA08-F53D-AEBB-344E-568A17E972EB}"/>
              </a:ext>
            </a:extLst>
          </p:cNvPr>
          <p:cNvSpPr txBox="1"/>
          <p:nvPr/>
        </p:nvSpPr>
        <p:spPr>
          <a:xfrm>
            <a:off x="490118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E335FC0-2489-39A4-8AE3-E07FEEE02A84}"/>
              </a:ext>
            </a:extLst>
          </p:cNvPr>
          <p:cNvSpPr txBox="1"/>
          <p:nvPr/>
        </p:nvSpPr>
        <p:spPr>
          <a:xfrm>
            <a:off x="4901184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40E632C-94F5-DD56-5872-1EBAF12C9BC0}"/>
              </a:ext>
            </a:extLst>
          </p:cNvPr>
          <p:cNvSpPr txBox="1"/>
          <p:nvPr/>
        </p:nvSpPr>
        <p:spPr>
          <a:xfrm>
            <a:off x="4901184" y="23317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Pick a test, watch it run, and step back through it.</a:t>
            </a:r>
            <a:endParaRPr lang="en-US" sz="1400" dirty="0"/>
          </a:p>
        </p:txBody>
      </p:sp>
      <p:sp>
        <p:nvSpPr>
          <p:cNvPr id="30" name="code-pill">
            <a:extLst>
              <a:ext uri="{FF2B5EF4-FFF2-40B4-BE49-F238E27FC236}">
                <a16:creationId xmlns:a16="http://schemas.microsoft.com/office/drawing/2014/main" id="{C9E2E52C-6157-A6D6-F9B3-0EC4E15D75EC}"/>
              </a:ext>
            </a:extLst>
          </p:cNvPr>
          <p:cNvSpPr/>
          <p:nvPr/>
        </p:nvSpPr>
        <p:spPr>
          <a:xfrm>
            <a:off x="4855464" y="38404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E7B1D58-93AC-404D-33AC-EB353415BE09}"/>
              </a:ext>
            </a:extLst>
          </p:cNvPr>
          <p:cNvSpPr txBox="1"/>
          <p:nvPr/>
        </p:nvSpPr>
        <p:spPr>
          <a:xfrm>
            <a:off x="4965192" y="38404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test:ui</a:t>
            </a:r>
            <a:endParaRPr lang="en-US" sz="1100" dirty="0"/>
          </a:p>
        </p:txBody>
      </p:sp>
      <p:sp>
        <p:nvSpPr>
          <p:cNvPr id="3" name="Slide Number Placeholder 0">
            <a:extLst>
              <a:ext uri="{FF2B5EF4-FFF2-40B4-BE49-F238E27FC236}">
                <a16:creationId xmlns:a16="http://schemas.microsoft.com/office/drawing/2014/main" id="{5401BA52-6675-D765-718F-CDA31E8B37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3" name="demo2">
            <a:extLst>
              <a:ext uri="{FF2B5EF4-FFF2-40B4-BE49-F238E27FC236}">
                <a16:creationId xmlns:a16="http://schemas.microsoft.com/office/drawing/2014/main" id="{9DBA4368-4C08-CF71-56CE-54BB1ED28BBE}"/>
              </a:ext>
            </a:extLst>
          </p:cNvPr>
          <p:cNvSpPr/>
          <p:nvPr/>
        </p:nvSpPr>
        <p:spPr>
          <a:xfrm>
            <a:off x="6821424" y="1188720"/>
            <a:ext cx="1920240" cy="33832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dot3">
            <a:extLst>
              <a:ext uri="{FF2B5EF4-FFF2-40B4-BE49-F238E27FC236}">
                <a16:creationId xmlns:a16="http://schemas.microsoft.com/office/drawing/2014/main" id="{28B83685-5A44-5D1F-ADC5-E34D7C8A3345}"/>
              </a:ext>
            </a:extLst>
          </p:cNvPr>
          <p:cNvSpPr/>
          <p:nvPr/>
        </p:nvSpPr>
        <p:spPr>
          <a:xfrm>
            <a:off x="7004304" y="13258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F9958A6-84B7-4FB8-3A8F-C3710F848BC6}"/>
              </a:ext>
            </a:extLst>
          </p:cNvPr>
          <p:cNvSpPr txBox="1"/>
          <p:nvPr/>
        </p:nvSpPr>
        <p:spPr>
          <a:xfrm>
            <a:off x="7004304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0923C0F-1210-8DF6-B18C-FE2534692EBF}"/>
              </a:ext>
            </a:extLst>
          </p:cNvPr>
          <p:cNvSpPr txBox="1"/>
          <p:nvPr/>
        </p:nvSpPr>
        <p:spPr>
          <a:xfrm>
            <a:off x="7004304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Test</a:t>
            </a:r>
            <a:endParaRPr lang="en-US" sz="20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1E40F7E-6AC0-8507-D2B9-878E866D81CA}"/>
              </a:ext>
            </a:extLst>
          </p:cNvPr>
          <p:cNvSpPr txBox="1"/>
          <p:nvPr/>
        </p:nvSpPr>
        <p:spPr>
          <a:xfrm>
            <a:off x="7004304" y="233172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Runs the test in a visible browser. Verifies validation scenarios.</a:t>
            </a:r>
          </a:p>
        </p:txBody>
      </p:sp>
      <p:sp>
        <p:nvSpPr>
          <p:cNvPr id="43" name="code-pill">
            <a:extLst>
              <a:ext uri="{FF2B5EF4-FFF2-40B4-BE49-F238E27FC236}">
                <a16:creationId xmlns:a16="http://schemas.microsoft.com/office/drawing/2014/main" id="{4EAA0E76-31D3-DCDC-CF61-8D311897F409}"/>
              </a:ext>
            </a:extLst>
          </p:cNvPr>
          <p:cNvSpPr/>
          <p:nvPr/>
        </p:nvSpPr>
        <p:spPr>
          <a:xfrm>
            <a:off x="6958584" y="3840480"/>
            <a:ext cx="164592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9688634-166D-EE81-D97C-F214A6D8C830}"/>
              </a:ext>
            </a:extLst>
          </p:cNvPr>
          <p:cNvSpPr txBox="1"/>
          <p:nvPr/>
        </p:nvSpPr>
        <p:spPr>
          <a:xfrm>
            <a:off x="7068312" y="384048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chemeClr val="bg1"/>
                </a:solidFill>
              </a:rPr>
              <a:t>npx</a:t>
            </a:r>
            <a:r>
              <a:rPr lang="en-US" sz="1100" dirty="0">
                <a:solidFill>
                  <a:schemeClr val="bg1"/>
                </a:solidFill>
              </a:rPr>
              <a:t> playwright test tests/</a:t>
            </a:r>
            <a:r>
              <a:rPr lang="en-US" sz="1100" dirty="0" err="1">
                <a:solidFill>
                  <a:schemeClr val="bg1"/>
                </a:solidFill>
              </a:rPr>
              <a:t>auth.spec.ts</a:t>
            </a:r>
            <a:r>
              <a:rPr lang="en-US" sz="1100" dirty="0">
                <a:solidFill>
                  <a:schemeClr val="bg1"/>
                </a:solidFill>
              </a:rPr>
              <a:t> --headed</a:t>
            </a:r>
          </a:p>
        </p:txBody>
      </p:sp>
    </p:spTree>
    <p:extLst>
      <p:ext uri="{BB962C8B-B14F-4D97-AF65-F5344CB8AC3E}">
        <p14:creationId xmlns:p14="http://schemas.microsoft.com/office/powerpoint/2010/main" val="2102388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Source, README and reports are in the project folder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Teal">
  <a:themeElements>
    <a:clrScheme name="Capstone Teal">
      <a:dk1>
        <a:srgbClr val="1B2A2E"/>
      </a:dk1>
      <a:lt1>
        <a:srgbClr val="FFFFFF"/>
      </a:lt1>
      <a:dk2>
        <a:srgbClr val="06494F"/>
      </a:dk2>
      <a:lt2>
        <a:srgbClr val="EAF3F3"/>
      </a:lt2>
      <a:accent1>
        <a:srgbClr val="0B6E75"/>
      </a:accent1>
      <a:accent2>
        <a:srgbClr val="F28C28"/>
      </a:accent2>
      <a:accent3>
        <a:srgbClr val="2E9E8F"/>
      </a:accent3>
      <a:accent4>
        <a:srgbClr val="5B6B70"/>
      </a:accent4>
      <a:accent5>
        <a:srgbClr val="C0392B"/>
      </a:accent5>
      <a:accent6>
        <a:srgbClr val="8FBFC0"/>
      </a:accent6>
      <a:hlink>
        <a:srgbClr val="0B6E75"/>
      </a:hlink>
      <a:folHlink>
        <a:srgbClr val="5B6B70"/>
      </a:folHlink>
    </a:clrScheme>
    <a:fontScheme name="Capston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933</Words>
  <Application>Microsoft Office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Capstone Teal</vt:lpstr>
      <vt:lpstr>Enterprise E-Commerce Automation Framework</vt:lpstr>
      <vt:lpstr>What we cover and why</vt:lpstr>
      <vt:lpstr>Framework architecture</vt:lpstr>
      <vt:lpstr>Locators: how to find a button</vt:lpstr>
      <vt:lpstr>Waiting: let Playwright be patient</vt:lpstr>
      <vt:lpstr>Browsers</vt:lpstr>
      <vt:lpstr>Live Demo Flow</vt:lpstr>
      <vt:lpstr>Thank you.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Capstone - Demo (Explained)</dc:title>
  <dc:subject>PptxGenJS Presentation</dc:subject>
  <dc:creator>PptxGenJS</dc:creator>
  <cp:lastModifiedBy>Umakiran Kaduluri</cp:lastModifiedBy>
  <cp:revision>10</cp:revision>
  <dcterms:created xsi:type="dcterms:W3CDTF">2026-10-16T04:26:03Z</dcterms:created>
  <dcterms:modified xsi:type="dcterms:W3CDTF">2026-10-19T05:29:02Z</dcterms:modified>
</cp:coreProperties>
</file>